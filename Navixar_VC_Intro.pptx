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57" r:id="rId4"/>
    <p:sldId id="272" r:id="rId5"/>
    <p:sldId id="270" r:id="rId6"/>
    <p:sldId id="273" r:id="rId7"/>
    <p:sldId id="275" r:id="rId8"/>
    <p:sldId id="274" r:id="rId9"/>
    <p:sldId id="276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F3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8"/>
    <p:restoredTop sz="94564"/>
  </p:normalViewPr>
  <p:slideViewPr>
    <p:cSldViewPr snapToGrid="0">
      <p:cViewPr varScale="1">
        <p:scale>
          <a:sx n="122" d="100"/>
          <a:sy n="122" d="100"/>
        </p:scale>
        <p:origin x="64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CBAA1-9422-1D40-B60D-263CD37EA26B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B673A-3275-6843-BF4B-0044B1B5A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BA8A9-1C92-7168-F903-C19AE3EF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88599-A840-D8CE-EDA4-24F970073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C4809-E9A8-4DF2-2AAB-609885C8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AADEB-E6CD-4C81-1FC9-0DA090607B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2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48F6A-D545-05AA-77AA-AAC1C8CF2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54C39-928A-2A51-37EF-3C099DB61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94535-CF67-9AD4-AAA3-49C56E420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Data with a game – Re-create Indian Traffic with Gaussian splats and get people to drive them around – That’s the training process for </a:t>
            </a:r>
            <a:r>
              <a:rPr lang="en-US" dirty="0" err="1"/>
              <a:t>Autoamted</a:t>
            </a:r>
            <a:r>
              <a:rPr lang="en-US"/>
              <a:t> Driving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F942-2C46-6A79-483C-3C578B403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280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D9F8-6AC5-F621-C074-43A94FB0F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D140C-7E88-4296-28DD-812887D49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73E1-01AC-2718-B5FF-ECA728810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70CEF-1E52-AEF5-E6AA-B26E5EC5F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98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27336-BDB6-E815-684F-B4F4610F2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5806C-0B25-4329-0F61-F91B98B36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00AEB9-0D55-D91A-8E06-251670C92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interactive – show a normal simulation environment – then a simulation environment with Gaussian splats, and possibly to move around in a gaussian splat based environment – add traffic, get traffic to move?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12231-7CE4-148B-CFBE-3957794FEF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8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2A4D-FD79-3FB3-C7B3-F007B2C25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6BEBE2-FD58-9931-0EA2-1B5EFC92F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9268D-2AF6-A600-E2C3-472399700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C20F7-CE56-1DBB-5DA8-4BED80B070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02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C45B-F177-5A94-F96D-218DFF9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9ECCE-56A5-D32F-47B0-A1FD394D7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F6AC6C-A37A-C4E1-AA2D-FBD0F4702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projected car sales in India going forward – need for nice car brands in </a:t>
            </a:r>
            <a:r>
              <a:rPr lang="en-US" dirty="0" err="1"/>
              <a:t>india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9F805-433D-9B59-7DAB-3704D2D4C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91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2D73-3A86-AD36-DAE0-F79D7903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05D7F-EAB6-B75B-80D7-2910FFB33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1A508-EF17-4CC3-E99E-A568B7A3C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70257-295F-F51E-173D-372111CCE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26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1021B-86E8-E210-0DF7-05AE61CF9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6FE5A-E00E-93CC-B833-FD566264B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F07A1-543B-B98A-C2AE-EA049C714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99032-03C2-5B8D-D72B-0E5DB5CBE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DE50F-F414-4416-43B0-B0511C7AE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0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18CA-E116-FAA7-FE55-AD7DA9FBE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826A3-7FB7-5F62-1A69-6EC589EE1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26D92-E1CF-177A-46EB-857D16FC2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790FA-760A-2BAC-41EB-B1E85221A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F8392-6806-4070-9828-70240150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44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C8113-16C0-094C-5515-2169BEBCE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5A893-5296-F8A4-EAD8-8AF6F3FC9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97561-BBBB-DD60-5F89-882850CBA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8647B-20F5-727F-5A71-99A481B0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D35C2-E720-3152-CB19-6B24FF87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1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E429F-2CD0-68D2-BFE6-18D275C74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AC281-6E88-3D38-C8DB-BA763D55B9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C5409-6998-3605-138E-E7550A741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98241-0D5B-D6C6-112A-176701A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9C9DF-8E7E-CFC9-A839-9D0D669D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EE4E0-952A-D6FD-EA1B-2C09523B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7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3F16-62A7-292D-F9E2-D4786C6D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330C86-3592-4960-E062-3C44C6078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F49C5-AE6A-96C5-CE15-2948FD2D9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0C0EC-45DE-582B-520A-819A4B863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11B7D-6D82-6BFA-2601-841AC48F29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C3F95-1412-F956-DEDD-FAFC1D83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5D114C-4239-DCA1-4B3B-ED3371848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F2363-4B89-0646-98B3-7074DD5D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7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2187C-9F40-1B5A-4D14-437E6065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34EDC-DB0D-1F18-E016-833BE362E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664E0-E22D-6D31-30C5-EEE1E8C4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F19B4-16D0-8691-8531-5CFBAEC0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0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092E1D-560C-62C0-5E8B-FEF6CCF9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31EA8E-3B97-50F4-1EC7-BC3BD58B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36F71-0BE8-D7AF-87CC-BF130486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5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11B9-B2FC-1DD6-DA11-5245DD7F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CC6FF-0F5F-D676-2744-2C6F4A713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106A6-52B0-E3D4-5C40-2C5FA1F43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16A9B-98EA-1F37-9870-749D55AFD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9EE4E-FEF9-FC29-C591-6A2C9A682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6AAE1-220C-9DA1-C35B-4ED95A89A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6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6ADA3-E8AF-93A9-1362-6A2EDCDC9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2C754-5741-E101-12ED-53BA9BBC5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D567-9A24-6270-B197-6DEF83322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14F4B-BC44-310B-536F-6392799E2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085FD-9BC7-4F6F-8300-12664C8C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ECE95-CDB7-BC00-D188-1699A712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38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2144-6FDB-F6F9-877C-DAC87B67E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541CF-B22C-8E72-A16F-12363B20A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83AFD-788D-5C07-0BE8-B8DCC162C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32701-374A-BE97-0CD7-AD7BA415D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7632-EEE0-EA35-D2A8-F715C005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7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9DCB41-C76A-FD10-F87E-8411EC5C0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9B96A-9944-3F42-E8F7-942EAEB57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04DE-3381-C16C-20AA-60F04333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85232-EA31-6016-D479-13146DD1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B5A84-8B88-0AF9-F4F3-EB2E2A95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5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30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F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2771C-99F9-7B74-C9F5-2B4A4BCE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528C2-159F-3A9B-CB78-52C2B6BA6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7B0B3-49AB-01F1-8783-F90794A6A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7116C2-A716-B945-9EB4-54D92F393609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4EAF5-ED82-E3F3-1986-563B0CC9B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6AE70-E70A-8F61-357E-DB7C4580D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BC8F16-7A5E-4B48-B02F-A449DE5E9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67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040" cy="68580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7559040" y="0"/>
            <a:ext cx="4632960" cy="6858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26720" y="548640"/>
            <a:ext cx="694944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133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NAVIXAR</a:t>
            </a:r>
            <a:endParaRPr lang="en-US" sz="10133" dirty="0"/>
          </a:p>
        </p:txBody>
      </p:sp>
      <p:sp>
        <p:nvSpPr>
          <p:cNvPr id="6" name="Shape 4"/>
          <p:cNvSpPr/>
          <p:nvPr/>
        </p:nvSpPr>
        <p:spPr>
          <a:xfrm>
            <a:off x="426720" y="1950720"/>
            <a:ext cx="4267200" cy="6705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Text 5"/>
          <p:cNvSpPr/>
          <p:nvPr/>
        </p:nvSpPr>
        <p:spPr>
          <a:xfrm>
            <a:off x="426720" y="2133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Fastest Path to</a:t>
            </a:r>
            <a:endParaRPr lang="en-US" sz="2800" dirty="0"/>
          </a:p>
          <a:p>
            <a:r>
              <a:rPr lang="en-US" sz="2800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Autonomy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6720" y="3267456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India's unstructured roads.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26720" y="4023360"/>
            <a:ext cx="2218944" cy="1036320"/>
          </a:xfrm>
          <a:prstGeom prst="rect">
            <a:avLst/>
          </a:prstGeom>
          <a:solidFill>
            <a:srgbClr val="111F35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426720" y="4072128"/>
            <a:ext cx="22189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₹XX Cr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6720" y="4608576"/>
            <a:ext cx="221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2804160" y="4023360"/>
            <a:ext cx="2218944" cy="1036320"/>
          </a:xfrm>
          <a:prstGeom prst="rect">
            <a:avLst/>
          </a:prstGeom>
          <a:solidFill>
            <a:srgbClr val="111F35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2804160" y="4072128"/>
            <a:ext cx="22189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804160" y="4608576"/>
            <a:ext cx="221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5181600" y="4023360"/>
            <a:ext cx="2218944" cy="1036320"/>
          </a:xfrm>
          <a:prstGeom prst="rect">
            <a:avLst/>
          </a:prstGeom>
          <a:solidFill>
            <a:srgbClr val="111F35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5181600" y="4072128"/>
            <a:ext cx="2218944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April 2026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81600" y="4608576"/>
            <a:ext cx="221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Raise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426720" y="6364224"/>
            <a:ext cx="69494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Munish Raj  ·  Founder &amp; CEO  ·  munish02@gmail.com  ·  STRICTLY CONFIDENTIAL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20000" y="1645920"/>
            <a:ext cx="43891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VLA-Powered</a:t>
            </a:r>
            <a:endParaRPr lang="en-US" sz="2667" dirty="0"/>
          </a:p>
        </p:txBody>
      </p:sp>
      <p:sp>
        <p:nvSpPr>
          <p:cNvPr id="20" name="Text 18"/>
          <p:cNvSpPr/>
          <p:nvPr/>
        </p:nvSpPr>
        <p:spPr>
          <a:xfrm>
            <a:off x="7620000" y="2438400"/>
            <a:ext cx="43891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Simulation-First</a:t>
            </a:r>
            <a:endParaRPr lang="en-US" sz="2667" dirty="0"/>
          </a:p>
        </p:txBody>
      </p:sp>
      <p:sp>
        <p:nvSpPr>
          <p:cNvPr id="21" name="Text 19"/>
          <p:cNvSpPr/>
          <p:nvPr/>
        </p:nvSpPr>
        <p:spPr>
          <a:xfrm>
            <a:off x="7620000" y="3230880"/>
            <a:ext cx="438912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India-Native</a:t>
            </a:r>
            <a:endParaRPr lang="en-US" sz="2667" dirty="0"/>
          </a:p>
        </p:txBody>
      </p:sp>
      <p:sp>
        <p:nvSpPr>
          <p:cNvPr id="22" name="Shape 20"/>
          <p:cNvSpPr/>
          <p:nvPr/>
        </p:nvSpPr>
        <p:spPr>
          <a:xfrm>
            <a:off x="7985760" y="4084320"/>
            <a:ext cx="3657600" cy="487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7680960" y="4328160"/>
            <a:ext cx="4328160" cy="1950720"/>
          </a:xfrm>
          <a:prstGeom prst="rect">
            <a:avLst/>
          </a:prstGeom>
          <a:noFill/>
          <a:ln/>
        </p:spPr>
        <p:txBody>
          <a:bodyPr wrap="square" lIns="1693" tIns="1693" rIns="1693" bIns="1693" rtlCol="0" anchor="ctr"/>
          <a:lstStyle/>
          <a:p>
            <a:pPr algn="ctr"/>
            <a:r>
              <a:rPr lang="en-US" sz="1733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 giants spent $80B+.
</a:t>
            </a:r>
            <a:r>
              <a:rPr lang="en-US" sz="17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it is optimised for India.</a:t>
            </a:r>
            <a:endParaRPr lang="en-US" sz="1733" dirty="0"/>
          </a:p>
          <a:p>
            <a:pPr algn="ctr"/>
            <a:r>
              <a:rPr lang="en-US" sz="17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Navixar changes that.</a:t>
            </a:r>
            <a:endParaRPr lang="en-US" sz="1733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16000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11600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itle"/>
          <p:cNvSpPr/>
          <p:nvPr/>
        </p:nvSpPr>
        <p:spPr>
          <a:xfrm>
            <a:off x="213333" y="273634"/>
            <a:ext cx="9066667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0F6FF"/>
                </a:solidFill>
                <a:latin typeface="Arial Black" pitchFamily="34" charset="0"/>
              </a:rPr>
              <a:t>The World Is Betting Billions on Robotaxis.</a:t>
            </a:r>
            <a:r>
              <a:rPr lang="en-US" sz="3733" b="1" dirty="0">
                <a:solidFill>
                  <a:srgbClr val="00C8FF"/>
                </a:solidFill>
                <a:latin typeface="Arial Black" pitchFamily="34" charset="0"/>
              </a:rPr>
              <a:t> Right Now.</a:t>
            </a:r>
          </a:p>
        </p:txBody>
      </p:sp>
      <p:sp>
        <p:nvSpPr>
          <p:cNvPr id="5" name="Stat"/>
          <p:cNvSpPr/>
          <p:nvPr/>
        </p:nvSpPr>
        <p:spPr>
          <a:xfrm>
            <a:off x="9200000" y="60000"/>
            <a:ext cx="2906667" cy="1053333"/>
          </a:xfrm>
          <a:prstGeom prst="rect">
            <a:avLst/>
          </a:prstGeom>
          <a:solidFill>
            <a:srgbClr val="00C8FF"/>
          </a:solidFill>
          <a:ln w="0">
            <a:noFill/>
          </a:ln>
        </p:spPr>
        <p:txBody>
          <a:bodyPr wrap="square" lIns="121920" tIns="60960" rIns="121920" bIns="60960" rtlCol="0" anchor="ctr"/>
          <a:lstStyle/>
          <a:p>
            <a:pPr algn="ctr"/>
            <a:r>
              <a:rPr lang="en-US" sz="2933" b="1" dirty="0">
                <a:solidFill>
                  <a:srgbClr val="060C1A"/>
                </a:solidFill>
                <a:latin typeface="Arial Black" pitchFamily="34" charset="0"/>
              </a:rPr>
              <a:t>$21.4B</a:t>
            </a:r>
          </a:p>
          <a:p>
            <a:pPr algn="ctr"/>
            <a:r>
              <a:rPr lang="en-US" sz="1333" b="1" dirty="0">
                <a:solidFill>
                  <a:srgbClr val="060C1A"/>
                </a:solidFill>
                <a:latin typeface="Calibri" pitchFamily="34" charset="0"/>
              </a:rPr>
              <a:t>raised Q1 2026 • Up 262%</a:t>
            </a:r>
          </a:p>
        </p:txBody>
      </p:sp>
      <p:pic>
        <p:nvPicPr>
          <p:cNvPr id="6" name="WorldM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0000"/>
            <a:ext cx="12192000" cy="5698000"/>
          </a:xfrm>
          <a:prstGeom prst="rect">
            <a:avLst/>
          </a:prstGeom>
        </p:spPr>
      </p:pic>
      <p:sp>
        <p:nvSpPr>
          <p:cNvPr id="7" name="Footer"/>
          <p:cNvSpPr/>
          <p:nvPr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111F35"/>
          </a:solidFill>
          <a:ln w="0">
            <a:noFill/>
          </a:ln>
        </p:spPr>
        <p:txBody>
          <a:bodyPr wrap="square" lIns="121920" tIns="0" rIns="121920" bIns="0" rtlCol="0" anchor="ctr"/>
          <a:lstStyle/>
          <a:p>
            <a:pPr algn="ctr"/>
            <a:r>
              <a:rPr lang="en-US" sz="1067" i="1" dirty="0">
                <a:solidFill>
                  <a:srgbClr val="B8CDE0"/>
                </a:solidFill>
                <a:latin typeface="Calibri" pitchFamily="34" charset="0"/>
              </a:rPr>
              <a:t>Sources: Crunchbase Q1 2026 AV Sector Report • TechCrunch • Waymo Blog Feb 2026 • Waabi raise Jan 2026 • Wayve Series D 2026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127" y="0"/>
            <a:ext cx="12192000" cy="128016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" cy="1280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365760" y="182883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AV Giants Spent $80B+. None of It Is Optimised for India.</a:t>
            </a:r>
            <a:endParaRPr lang="en-US" sz="3733" dirty="0"/>
          </a:p>
        </p:txBody>
      </p:sp>
      <p:sp>
        <p:nvSpPr>
          <p:cNvPr id="5" name="Text 3"/>
          <p:cNvSpPr/>
          <p:nvPr/>
        </p:nvSpPr>
        <p:spPr>
          <a:xfrm>
            <a:off x="365760" y="1001494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roads and traffic are the unique - and no existing stack is engineered to navigate them.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048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304800" y="1438656"/>
            <a:ext cx="85344" cy="4754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Gap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5486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399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AV training data is Western. A model trained on San Francisco cannot handle Saidapet — 40+ vehicle types, cattle, lane-less chaos.</a:t>
            </a:r>
            <a:endParaRPr lang="en-US" sz="1533" dirty="0"/>
          </a:p>
        </p:txBody>
      </p:sp>
      <p:sp>
        <p:nvSpPr>
          <p:cNvPr id="11" name="Shape 9"/>
          <p:cNvSpPr/>
          <p:nvPr/>
        </p:nvSpPr>
        <p:spPr>
          <a:xfrm>
            <a:off x="304800" y="6047232"/>
            <a:ext cx="3779520" cy="2438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267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Crunchbase 2025</a:t>
            </a:r>
            <a:endParaRPr lang="en-US" sz="1133" dirty="0"/>
          </a:p>
        </p:txBody>
      </p:sp>
      <p:sp>
        <p:nvSpPr>
          <p:cNvPr id="13" name="Shape 11"/>
          <p:cNvSpPr/>
          <p:nvPr/>
        </p:nvSpPr>
        <p:spPr>
          <a:xfrm>
            <a:off x="42672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/>
          <p:cNvSpPr/>
          <p:nvPr/>
        </p:nvSpPr>
        <p:spPr>
          <a:xfrm>
            <a:off x="4267200" y="1438656"/>
            <a:ext cx="85344" cy="4754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5110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Environments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45110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Broken Roads, Potholes and …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5023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is key for Advanced Automated Driving.</a:t>
            </a:r>
          </a:p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simulators rely on structured roads and traffic </a:t>
            </a:r>
            <a:endParaRPr lang="en-US" sz="1533" dirty="0"/>
          </a:p>
        </p:txBody>
      </p:sp>
      <p:sp>
        <p:nvSpPr>
          <p:cNvPr id="18" name="Shape 16"/>
          <p:cNvSpPr/>
          <p:nvPr/>
        </p:nvSpPr>
        <p:spPr>
          <a:xfrm>
            <a:off x="4267200" y="6047232"/>
            <a:ext cx="3779520" cy="2438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3891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MoRTHS Gazette Notification 2024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82296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8229600" y="1438656"/>
            <a:ext cx="85344" cy="4754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/>
          <p:nvPr/>
        </p:nvSpPr>
        <p:spPr>
          <a:xfrm>
            <a:off x="84734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 Gap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84734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84647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3M+ Ola/Uber rides per day, the world's ideal robotaxi culture — and zero commercial autonomous vehicle deployments.</a:t>
            </a:r>
            <a:endParaRPr lang="en-US" sz="1533" dirty="0"/>
          </a:p>
        </p:txBody>
      </p:sp>
      <p:sp>
        <p:nvSpPr>
          <p:cNvPr id="25" name="Shape 23"/>
          <p:cNvSpPr/>
          <p:nvPr/>
        </p:nvSpPr>
        <p:spPr>
          <a:xfrm>
            <a:off x="8229600" y="6047232"/>
            <a:ext cx="3779520" cy="243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/>
          <p:nvPr/>
        </p:nvSpPr>
        <p:spPr>
          <a:xfrm>
            <a:off x="83515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Ola/Uber India ride data 2025</a:t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0" y="6364224"/>
            <a:ext cx="12192000" cy="512064"/>
          </a:xfrm>
          <a:prstGeom prst="rect">
            <a:avLst/>
          </a:prstGeom>
          <a:solidFill>
            <a:srgbClr val="111F35"/>
          </a:solidFill>
          <a:ln w="12700">
            <a:solidFill>
              <a:srgbClr val="111F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365760" y="6388608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“Waymo has spent $3.5B (Alphabet 10-K, FY2024) and has no India operations. Mobileye and Baidu have global reach — but neither has India-native training data, local regulatory access, or a deployment roadmap for unstructured Indian traffic.”</a:t>
            </a:r>
            <a:endParaRPr lang="en-US" sz="1267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0EA22-288E-478D-279C-444702F8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6A2CE3-0DE3-AEC2-22DD-8BB2382976A9}"/>
              </a:ext>
            </a:extLst>
          </p:cNvPr>
          <p:cNvSpPr/>
          <p:nvPr/>
        </p:nvSpPr>
        <p:spPr>
          <a:xfrm>
            <a:off x="-26127" y="0"/>
            <a:ext cx="12192000" cy="128016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5A2847-E133-C422-AD25-56EC871A1119}"/>
              </a:ext>
            </a:extLst>
          </p:cNvPr>
          <p:cNvSpPr/>
          <p:nvPr/>
        </p:nvSpPr>
        <p:spPr>
          <a:xfrm>
            <a:off x="0" y="0"/>
            <a:ext cx="121920" cy="1280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FA679D-A458-7C03-6B6D-8C16B2964855}"/>
              </a:ext>
            </a:extLst>
          </p:cNvPr>
          <p:cNvSpPr/>
          <p:nvPr/>
        </p:nvSpPr>
        <p:spPr>
          <a:xfrm>
            <a:off x="365760" y="292949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Automated Driving models rely on accurate data</a:t>
            </a:r>
            <a:endParaRPr lang="en-US" sz="37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D77959-055F-787C-A5BF-8D0B000FE825}"/>
              </a:ext>
            </a:extLst>
          </p:cNvPr>
          <p:cNvSpPr/>
          <p:nvPr/>
        </p:nvSpPr>
        <p:spPr>
          <a:xfrm>
            <a:off x="365760" y="1001494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733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05590E3-2A5A-0CC0-C6F9-C9BDE82133EB}"/>
              </a:ext>
            </a:extLst>
          </p:cNvPr>
          <p:cNvSpPr/>
          <p:nvPr/>
        </p:nvSpPr>
        <p:spPr>
          <a:xfrm>
            <a:off x="3048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B63CE53-FF29-33CB-AF11-5773D9F77AC3}"/>
              </a:ext>
            </a:extLst>
          </p:cNvPr>
          <p:cNvSpPr/>
          <p:nvPr/>
        </p:nvSpPr>
        <p:spPr>
          <a:xfrm>
            <a:off x="304800" y="1438656"/>
            <a:ext cx="85344" cy="4754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1BAD80-4D58-AF6B-F68A-97F74EC97C60}"/>
              </a:ext>
            </a:extLst>
          </p:cNvPr>
          <p:cNvSpPr/>
          <p:nvPr/>
        </p:nvSpPr>
        <p:spPr>
          <a:xfrm>
            <a:off x="5486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Gap</a:t>
            </a:r>
            <a:endParaRPr lang="en-US" sz="18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87C49ED-4795-5E73-0868-BBC1E06CE370}"/>
              </a:ext>
            </a:extLst>
          </p:cNvPr>
          <p:cNvSpPr/>
          <p:nvPr/>
        </p:nvSpPr>
        <p:spPr>
          <a:xfrm>
            <a:off x="5486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7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45B804F-7439-A692-B083-B1BED7973AA2}"/>
              </a:ext>
            </a:extLst>
          </p:cNvPr>
          <p:cNvSpPr/>
          <p:nvPr/>
        </p:nvSpPr>
        <p:spPr>
          <a:xfrm>
            <a:off x="5399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AV training data is Western. A model trained on San Francisco cannot handle Saidapet — 40+ vehicle types, cattle, lane-less chaos.</a:t>
            </a:r>
            <a:endParaRPr lang="en-US" sz="1533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3F98991-1971-2776-3436-282DB4A949F7}"/>
              </a:ext>
            </a:extLst>
          </p:cNvPr>
          <p:cNvSpPr/>
          <p:nvPr/>
        </p:nvSpPr>
        <p:spPr>
          <a:xfrm>
            <a:off x="304800" y="6047232"/>
            <a:ext cx="3779520" cy="2438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0E912F-C480-125C-1171-ED7BF0A27C64}"/>
              </a:ext>
            </a:extLst>
          </p:cNvPr>
          <p:cNvSpPr/>
          <p:nvPr/>
        </p:nvSpPr>
        <p:spPr>
          <a:xfrm>
            <a:off x="4267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Crunchbase 2025</a:t>
            </a:r>
            <a:endParaRPr lang="en-US" sz="1133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E6D905E-F913-8C1F-DB50-6F966EAD202A}"/>
              </a:ext>
            </a:extLst>
          </p:cNvPr>
          <p:cNvSpPr/>
          <p:nvPr/>
        </p:nvSpPr>
        <p:spPr>
          <a:xfrm>
            <a:off x="42672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DCEEB3B-76F9-B8D5-C58F-FF897A95CB12}"/>
              </a:ext>
            </a:extLst>
          </p:cNvPr>
          <p:cNvSpPr/>
          <p:nvPr/>
        </p:nvSpPr>
        <p:spPr>
          <a:xfrm>
            <a:off x="4267200" y="1438656"/>
            <a:ext cx="85344" cy="4754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E7D017-BB12-84FA-D803-09C2E5B0D307}"/>
              </a:ext>
            </a:extLst>
          </p:cNvPr>
          <p:cNvSpPr/>
          <p:nvPr/>
        </p:nvSpPr>
        <p:spPr>
          <a:xfrm>
            <a:off x="45110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Environments</a:t>
            </a:r>
            <a:endParaRPr lang="en-US" sz="1867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648603-86DC-3AE1-8D85-C1F74A35F5FD}"/>
              </a:ext>
            </a:extLst>
          </p:cNvPr>
          <p:cNvSpPr/>
          <p:nvPr/>
        </p:nvSpPr>
        <p:spPr>
          <a:xfrm>
            <a:off x="45110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Broken Roads, Potholes and …</a:t>
            </a:r>
            <a:endParaRPr lang="en-US" sz="3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ECBBCF5-3DBA-1D5B-E095-98CDD831307C}"/>
              </a:ext>
            </a:extLst>
          </p:cNvPr>
          <p:cNvSpPr/>
          <p:nvPr/>
        </p:nvSpPr>
        <p:spPr>
          <a:xfrm>
            <a:off x="45023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Environments used by existing global organizations rely on structured roads and traffic </a:t>
            </a:r>
            <a:endParaRPr lang="en-US" sz="1533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6B57326-6F63-34C0-D384-7762066C792A}"/>
              </a:ext>
            </a:extLst>
          </p:cNvPr>
          <p:cNvSpPr/>
          <p:nvPr/>
        </p:nvSpPr>
        <p:spPr>
          <a:xfrm>
            <a:off x="4267200" y="6047232"/>
            <a:ext cx="3779520" cy="2438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3EF4731-1CC6-9184-7348-3F18792E695E}"/>
              </a:ext>
            </a:extLst>
          </p:cNvPr>
          <p:cNvSpPr/>
          <p:nvPr/>
        </p:nvSpPr>
        <p:spPr>
          <a:xfrm>
            <a:off x="43891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MoRTHS Gazette Notification 2024</a:t>
            </a:r>
            <a:endParaRPr lang="en-US" sz="1133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DFDECB9-38F2-E3EE-208F-DFA93692B276}"/>
              </a:ext>
            </a:extLst>
          </p:cNvPr>
          <p:cNvSpPr/>
          <p:nvPr/>
        </p:nvSpPr>
        <p:spPr>
          <a:xfrm>
            <a:off x="82296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EDFAC48-6671-2C5E-7EF0-90CCD2ED4933}"/>
              </a:ext>
            </a:extLst>
          </p:cNvPr>
          <p:cNvSpPr/>
          <p:nvPr/>
        </p:nvSpPr>
        <p:spPr>
          <a:xfrm>
            <a:off x="8229600" y="1438656"/>
            <a:ext cx="85344" cy="4754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58C9BE4-EBFC-34DC-A15A-FD8B8F4538E0}"/>
              </a:ext>
            </a:extLst>
          </p:cNvPr>
          <p:cNvSpPr/>
          <p:nvPr/>
        </p:nvSpPr>
        <p:spPr>
          <a:xfrm>
            <a:off x="84734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 Gap</a:t>
            </a:r>
            <a:endParaRPr lang="en-US" sz="1867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A07058-1239-8B01-F6FA-AD19BF111EA5}"/>
              </a:ext>
            </a:extLst>
          </p:cNvPr>
          <p:cNvSpPr/>
          <p:nvPr/>
        </p:nvSpPr>
        <p:spPr>
          <a:xfrm>
            <a:off x="84734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7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88B6579-21D0-E625-629B-D70F1B08DF9E}"/>
              </a:ext>
            </a:extLst>
          </p:cNvPr>
          <p:cNvSpPr/>
          <p:nvPr/>
        </p:nvSpPr>
        <p:spPr>
          <a:xfrm>
            <a:off x="84647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3M+ Ola/Uber rides per day, the world's ideal robotaxi culture — and zero commercial autonomous vehicle deployments.</a:t>
            </a:r>
            <a:endParaRPr lang="en-US" sz="1533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322016D-2CEB-1F9A-DB4F-BA8B39D5B4A4}"/>
              </a:ext>
            </a:extLst>
          </p:cNvPr>
          <p:cNvSpPr/>
          <p:nvPr/>
        </p:nvSpPr>
        <p:spPr>
          <a:xfrm>
            <a:off x="8229600" y="6047232"/>
            <a:ext cx="3779520" cy="243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7B51B7E-1106-EFA8-09B0-F902DC638E61}"/>
              </a:ext>
            </a:extLst>
          </p:cNvPr>
          <p:cNvSpPr/>
          <p:nvPr/>
        </p:nvSpPr>
        <p:spPr>
          <a:xfrm>
            <a:off x="83515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Ola/Uber India ride data 2025</a:t>
            </a:r>
            <a:endParaRPr lang="en-US" sz="1133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26982AD-EE26-339C-25B0-0784B83B5A98}"/>
              </a:ext>
            </a:extLst>
          </p:cNvPr>
          <p:cNvSpPr/>
          <p:nvPr/>
        </p:nvSpPr>
        <p:spPr>
          <a:xfrm>
            <a:off x="0" y="6364224"/>
            <a:ext cx="12192000" cy="512064"/>
          </a:xfrm>
          <a:prstGeom prst="rect">
            <a:avLst/>
          </a:prstGeom>
          <a:solidFill>
            <a:srgbClr val="111F35"/>
          </a:solidFill>
          <a:ln w="12700">
            <a:solidFill>
              <a:srgbClr val="111F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B246DFB-01DE-B7E4-D26C-BDB37EBF343B}"/>
              </a:ext>
            </a:extLst>
          </p:cNvPr>
          <p:cNvSpPr/>
          <p:nvPr/>
        </p:nvSpPr>
        <p:spPr>
          <a:xfrm>
            <a:off x="365760" y="6388608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“Waymo has spent $3.5B (Alphabet 10-K, FY2024) and has no India operations. Mobileye and Baidu have global reach — but neither has India-native training data, local regulatory access, or a deployment roadmap for unstructured Indian traffic.”</a:t>
            </a:r>
            <a:endParaRPr lang="en-US" sz="1267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F800BA-B3F1-7DBA-49F0-0269FEE544D0}"/>
              </a:ext>
            </a:extLst>
          </p:cNvPr>
          <p:cNvSpPr/>
          <p:nvPr/>
        </p:nvSpPr>
        <p:spPr>
          <a:xfrm>
            <a:off x="4084320" y="1391637"/>
            <a:ext cx="8107680" cy="4981053"/>
          </a:xfrm>
          <a:prstGeom prst="rect">
            <a:avLst/>
          </a:prstGeom>
          <a:solidFill>
            <a:srgbClr val="101F34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3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75C70-0109-72F4-47D7-116E2AA8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C832AB-89A7-8303-8EC4-BAA1D98A6B76}"/>
              </a:ext>
            </a:extLst>
          </p:cNvPr>
          <p:cNvSpPr/>
          <p:nvPr/>
        </p:nvSpPr>
        <p:spPr>
          <a:xfrm>
            <a:off x="-26127" y="0"/>
            <a:ext cx="12192000" cy="128016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945B737-A590-6550-6375-D8732B24851B}"/>
              </a:ext>
            </a:extLst>
          </p:cNvPr>
          <p:cNvSpPr/>
          <p:nvPr/>
        </p:nvSpPr>
        <p:spPr>
          <a:xfrm>
            <a:off x="0" y="0"/>
            <a:ext cx="121920" cy="1280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D401FC-DD0F-878E-C989-F5BFE45C1131}"/>
              </a:ext>
            </a:extLst>
          </p:cNvPr>
          <p:cNvSpPr/>
          <p:nvPr/>
        </p:nvSpPr>
        <p:spPr>
          <a:xfrm>
            <a:off x="365760" y="200301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0F6FF"/>
                </a:solidFill>
                <a:latin typeface="Arial Black" pitchFamily="34" charset="0"/>
                <a:cs typeface="Arial Black" pitchFamily="34" charset="-120"/>
              </a:rPr>
              <a:t>Data Collection strategies need to be tailored for India</a:t>
            </a:r>
            <a:endParaRPr lang="en-US" sz="37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B1B01C4-CD26-6207-2960-683F1B990A60}"/>
              </a:ext>
            </a:extLst>
          </p:cNvPr>
          <p:cNvSpPr/>
          <p:nvPr/>
        </p:nvSpPr>
        <p:spPr>
          <a:xfrm>
            <a:off x="339633" y="1355281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data collection strategies do not account for blind spots where two-wheelers and pedestrians move close to the vehicle. </a:t>
            </a:r>
            <a:r>
              <a:rPr lang="en-US" sz="1733" i="1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Navixar</a:t>
            </a:r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fixes this with India-specific Data collection pipelines</a:t>
            </a:r>
            <a:endParaRPr lang="en-US" sz="1733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3A25427-830A-9997-30D5-8A58C3F4018C}"/>
              </a:ext>
            </a:extLst>
          </p:cNvPr>
          <p:cNvSpPr/>
          <p:nvPr/>
        </p:nvSpPr>
        <p:spPr>
          <a:xfrm>
            <a:off x="216383" y="6001052"/>
            <a:ext cx="11759234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the Data Collection pipeline enables </a:t>
            </a:r>
            <a:r>
              <a:rPr lang="en-US" sz="1733" i="1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Navixar</a:t>
            </a:r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focus on the key aspects that enable </a:t>
            </a:r>
            <a:r>
              <a:rPr lang="en-US" sz="1733" i="1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Navixar’s</a:t>
            </a:r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vehicles to run autonomously</a:t>
            </a:r>
            <a:endParaRPr lang="en-US" sz="1733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AE9C8-9B19-A399-A19D-6DE8F9C04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72" b="21624"/>
          <a:stretch>
            <a:fillRect/>
          </a:stretch>
        </p:blipFill>
        <p:spPr>
          <a:xfrm>
            <a:off x="0" y="1820547"/>
            <a:ext cx="12202684" cy="383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07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6D484-59C0-8426-79DC-670143E9E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155607-B0C6-B657-1C57-8E902F5CEF56}"/>
              </a:ext>
            </a:extLst>
          </p:cNvPr>
          <p:cNvSpPr/>
          <p:nvPr/>
        </p:nvSpPr>
        <p:spPr>
          <a:xfrm>
            <a:off x="-26127" y="0"/>
            <a:ext cx="12192000" cy="128016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A8F713-A2AE-0A25-C53C-51546F5A9AB9}"/>
              </a:ext>
            </a:extLst>
          </p:cNvPr>
          <p:cNvSpPr/>
          <p:nvPr/>
        </p:nvSpPr>
        <p:spPr>
          <a:xfrm>
            <a:off x="0" y="0"/>
            <a:ext cx="121920" cy="1280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83387B-7378-A1B7-50CF-CC3E9CB95713}"/>
              </a:ext>
            </a:extLst>
          </p:cNvPr>
          <p:cNvSpPr/>
          <p:nvPr/>
        </p:nvSpPr>
        <p:spPr>
          <a:xfrm>
            <a:off x="365760" y="250619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is key. Simulation lets you experiment and test endlessly</a:t>
            </a:r>
            <a:endParaRPr lang="en-US" sz="37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998E61-935B-3020-08BB-73BE2D287854}"/>
              </a:ext>
            </a:extLst>
          </p:cNvPr>
          <p:cNvSpPr/>
          <p:nvPr/>
        </p:nvSpPr>
        <p:spPr>
          <a:xfrm>
            <a:off x="365760" y="1001494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733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4AF77E-E2C4-F926-3B86-DE35AAE8E99B}"/>
              </a:ext>
            </a:extLst>
          </p:cNvPr>
          <p:cNvSpPr/>
          <p:nvPr/>
        </p:nvSpPr>
        <p:spPr>
          <a:xfrm>
            <a:off x="3048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005D0BE-E9ED-2CED-F21B-97F1D13E908C}"/>
              </a:ext>
            </a:extLst>
          </p:cNvPr>
          <p:cNvSpPr/>
          <p:nvPr/>
        </p:nvSpPr>
        <p:spPr>
          <a:xfrm>
            <a:off x="304800" y="1438656"/>
            <a:ext cx="85344" cy="4754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3F5353C-B0BD-E9C8-C34F-7E820281B166}"/>
              </a:ext>
            </a:extLst>
          </p:cNvPr>
          <p:cNvSpPr/>
          <p:nvPr/>
        </p:nvSpPr>
        <p:spPr>
          <a:xfrm>
            <a:off x="5486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Gap</a:t>
            </a:r>
            <a:endParaRPr lang="en-US" sz="18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868714-084B-520D-8CCF-212121336287}"/>
              </a:ext>
            </a:extLst>
          </p:cNvPr>
          <p:cNvSpPr/>
          <p:nvPr/>
        </p:nvSpPr>
        <p:spPr>
          <a:xfrm>
            <a:off x="5486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7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C5AABC5-C616-1F6C-AA7E-A766ABCE5DA7}"/>
              </a:ext>
            </a:extLst>
          </p:cNvPr>
          <p:cNvSpPr/>
          <p:nvPr/>
        </p:nvSpPr>
        <p:spPr>
          <a:xfrm>
            <a:off x="5399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AV training data is Western. A model trained on San Francisco cannot handle Saidapet — 40+ vehicle types, cattle, lane-less chaos.</a:t>
            </a:r>
            <a:endParaRPr lang="en-US" sz="1533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1383BCC-3706-27ED-B5D6-628E3FFBC648}"/>
              </a:ext>
            </a:extLst>
          </p:cNvPr>
          <p:cNvSpPr/>
          <p:nvPr/>
        </p:nvSpPr>
        <p:spPr>
          <a:xfrm>
            <a:off x="304800" y="6047232"/>
            <a:ext cx="3779520" cy="2438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843F266-6733-D410-C178-2956E5C10E9A}"/>
              </a:ext>
            </a:extLst>
          </p:cNvPr>
          <p:cNvSpPr/>
          <p:nvPr/>
        </p:nvSpPr>
        <p:spPr>
          <a:xfrm>
            <a:off x="4267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Crunchbase 2025</a:t>
            </a:r>
            <a:endParaRPr lang="en-US" sz="1133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DEF94CE-47F5-79AD-8791-083AC4DD9DFF}"/>
              </a:ext>
            </a:extLst>
          </p:cNvPr>
          <p:cNvSpPr/>
          <p:nvPr/>
        </p:nvSpPr>
        <p:spPr>
          <a:xfrm>
            <a:off x="42672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437A8C0-4CA0-AE43-06F4-120C5979804B}"/>
              </a:ext>
            </a:extLst>
          </p:cNvPr>
          <p:cNvSpPr/>
          <p:nvPr/>
        </p:nvSpPr>
        <p:spPr>
          <a:xfrm>
            <a:off x="4267200" y="1438656"/>
            <a:ext cx="85344" cy="4754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9C1B656-9717-8DF2-7A34-21B28511118F}"/>
              </a:ext>
            </a:extLst>
          </p:cNvPr>
          <p:cNvSpPr/>
          <p:nvPr/>
        </p:nvSpPr>
        <p:spPr>
          <a:xfrm>
            <a:off x="45110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Environments</a:t>
            </a:r>
            <a:endParaRPr lang="en-US" sz="1867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EA292D-43F4-32BB-B273-E6A86BE8C5F0}"/>
              </a:ext>
            </a:extLst>
          </p:cNvPr>
          <p:cNvSpPr/>
          <p:nvPr/>
        </p:nvSpPr>
        <p:spPr>
          <a:xfrm>
            <a:off x="45110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Broken Roads, Potholes and …</a:t>
            </a:r>
            <a:endParaRPr lang="en-US" sz="3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0275FF5-CF65-02C2-BD4B-E56149835F99}"/>
              </a:ext>
            </a:extLst>
          </p:cNvPr>
          <p:cNvSpPr/>
          <p:nvPr/>
        </p:nvSpPr>
        <p:spPr>
          <a:xfrm>
            <a:off x="45023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Environments used by existing global organizations rely on structured roads and traffic </a:t>
            </a:r>
            <a:endParaRPr lang="en-US" sz="1533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6875346-3182-9370-DEEF-D8CBA2B2D723}"/>
              </a:ext>
            </a:extLst>
          </p:cNvPr>
          <p:cNvSpPr/>
          <p:nvPr/>
        </p:nvSpPr>
        <p:spPr>
          <a:xfrm>
            <a:off x="4267200" y="6047232"/>
            <a:ext cx="3779520" cy="2438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97A038F-7964-2284-CCAD-D488139F9A70}"/>
              </a:ext>
            </a:extLst>
          </p:cNvPr>
          <p:cNvSpPr/>
          <p:nvPr/>
        </p:nvSpPr>
        <p:spPr>
          <a:xfrm>
            <a:off x="43891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MoRTHS Gazette Notification 2024</a:t>
            </a:r>
            <a:endParaRPr lang="en-US" sz="1133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996B8D0-0F55-B6EC-0E7C-787CA1A950D1}"/>
              </a:ext>
            </a:extLst>
          </p:cNvPr>
          <p:cNvSpPr/>
          <p:nvPr/>
        </p:nvSpPr>
        <p:spPr>
          <a:xfrm>
            <a:off x="82296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5E04713-FC75-CC5C-91FD-3CDBA748C071}"/>
              </a:ext>
            </a:extLst>
          </p:cNvPr>
          <p:cNvSpPr/>
          <p:nvPr/>
        </p:nvSpPr>
        <p:spPr>
          <a:xfrm>
            <a:off x="8229600" y="1438656"/>
            <a:ext cx="85344" cy="4754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7E6DDA1-6D56-2F97-FE99-F31A76FD463A}"/>
              </a:ext>
            </a:extLst>
          </p:cNvPr>
          <p:cNvSpPr/>
          <p:nvPr/>
        </p:nvSpPr>
        <p:spPr>
          <a:xfrm>
            <a:off x="84734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 Gap</a:t>
            </a:r>
            <a:endParaRPr lang="en-US" sz="1867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A6C4562-7F42-131A-21F4-1D3B57259359}"/>
              </a:ext>
            </a:extLst>
          </p:cNvPr>
          <p:cNvSpPr/>
          <p:nvPr/>
        </p:nvSpPr>
        <p:spPr>
          <a:xfrm>
            <a:off x="84734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7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6EAC2A9-7847-D587-D2F9-3BE4425E45A8}"/>
              </a:ext>
            </a:extLst>
          </p:cNvPr>
          <p:cNvSpPr/>
          <p:nvPr/>
        </p:nvSpPr>
        <p:spPr>
          <a:xfrm>
            <a:off x="84647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3M+ Ola/Uber rides per day, the world's ideal robotaxi culture — and zero commercial autonomous vehicle deployments.</a:t>
            </a:r>
            <a:endParaRPr lang="en-US" sz="1533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2B4FA07-8936-CAD5-A43F-8D0D033FCA6B}"/>
              </a:ext>
            </a:extLst>
          </p:cNvPr>
          <p:cNvSpPr/>
          <p:nvPr/>
        </p:nvSpPr>
        <p:spPr>
          <a:xfrm>
            <a:off x="8229600" y="6047232"/>
            <a:ext cx="3779520" cy="243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AC7EE45-4C61-E7A5-10A8-D9561C5ED7B9}"/>
              </a:ext>
            </a:extLst>
          </p:cNvPr>
          <p:cNvSpPr/>
          <p:nvPr/>
        </p:nvSpPr>
        <p:spPr>
          <a:xfrm>
            <a:off x="83515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Ola/Uber India ride data 2025</a:t>
            </a:r>
            <a:endParaRPr lang="en-US" sz="1133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2A1626E-288A-745F-0678-C6CF8F01F652}"/>
              </a:ext>
            </a:extLst>
          </p:cNvPr>
          <p:cNvSpPr/>
          <p:nvPr/>
        </p:nvSpPr>
        <p:spPr>
          <a:xfrm>
            <a:off x="0" y="6364224"/>
            <a:ext cx="12192000" cy="512064"/>
          </a:xfrm>
          <a:prstGeom prst="rect">
            <a:avLst/>
          </a:prstGeom>
          <a:solidFill>
            <a:srgbClr val="111F35"/>
          </a:solidFill>
          <a:ln w="12700">
            <a:solidFill>
              <a:srgbClr val="111F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70B41A5-33BB-4E89-9BE3-B1EF307F072F}"/>
              </a:ext>
            </a:extLst>
          </p:cNvPr>
          <p:cNvSpPr/>
          <p:nvPr/>
        </p:nvSpPr>
        <p:spPr>
          <a:xfrm>
            <a:off x="365760" y="6388608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“Waymo has spent $3.5B (Alphabet 10-K, FY2024) and has no India operations. Mobileye and Baidu have global reach — but neither has India-native training data, local regulatory access, or a deployment roadmap for unstructured Indian traffic.”</a:t>
            </a:r>
            <a:endParaRPr lang="en-US" sz="1267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77238F-2283-1CF3-509B-B6F7A7999691}"/>
              </a:ext>
            </a:extLst>
          </p:cNvPr>
          <p:cNvSpPr/>
          <p:nvPr/>
        </p:nvSpPr>
        <p:spPr>
          <a:xfrm>
            <a:off x="8168640" y="1280160"/>
            <a:ext cx="4023360" cy="5084064"/>
          </a:xfrm>
          <a:prstGeom prst="rect">
            <a:avLst/>
          </a:prstGeom>
          <a:solidFill>
            <a:srgbClr val="101F34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4E7031-C954-8177-0CEB-E4E5820B8322}"/>
              </a:ext>
            </a:extLst>
          </p:cNvPr>
          <p:cNvSpPr/>
          <p:nvPr/>
        </p:nvSpPr>
        <p:spPr>
          <a:xfrm>
            <a:off x="105374" y="1370735"/>
            <a:ext cx="4003330" cy="5084064"/>
          </a:xfrm>
          <a:prstGeom prst="rect">
            <a:avLst/>
          </a:prstGeom>
          <a:solidFill>
            <a:srgbClr val="101F34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9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A48C-21E4-AF9B-0F44-F797A15B0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58C1B9-E06D-725D-C182-428F4BD28880}"/>
              </a:ext>
            </a:extLst>
          </p:cNvPr>
          <p:cNvSpPr/>
          <p:nvPr/>
        </p:nvSpPr>
        <p:spPr>
          <a:xfrm>
            <a:off x="-26127" y="0"/>
            <a:ext cx="12192000" cy="128016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4D3E10-23D2-3583-CDB8-870779CD9D77}"/>
              </a:ext>
            </a:extLst>
          </p:cNvPr>
          <p:cNvSpPr/>
          <p:nvPr/>
        </p:nvSpPr>
        <p:spPr>
          <a:xfrm>
            <a:off x="0" y="0"/>
            <a:ext cx="121920" cy="1280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FC4FA2-3171-9B3C-DDED-2F60334C8EC3}"/>
              </a:ext>
            </a:extLst>
          </p:cNvPr>
          <p:cNvSpPr/>
          <p:nvPr/>
        </p:nvSpPr>
        <p:spPr>
          <a:xfrm>
            <a:off x="365760" y="200301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0F6FF"/>
                </a:solidFill>
                <a:latin typeface="Arial Black" pitchFamily="34" charset="0"/>
                <a:cs typeface="Arial Black" pitchFamily="34" charset="-120"/>
              </a:rPr>
              <a:t>The Simulation environment needs to be tailored for India</a:t>
            </a:r>
            <a:endParaRPr lang="en-US" sz="37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30EC3DE-6E59-EB9B-70B1-73335F566760}"/>
              </a:ext>
            </a:extLst>
          </p:cNvPr>
          <p:cNvSpPr/>
          <p:nvPr/>
        </p:nvSpPr>
        <p:spPr>
          <a:xfrm>
            <a:off x="365760" y="1100477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simulators focus on lanes, and predominantly structured traffic. India brings challenges in roads, textures, traffic and unknown objects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826536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D5A4-A9C6-3169-1AF6-B9BCCAB36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6A4639-C66A-867F-99E9-A687F0854C98}"/>
              </a:ext>
            </a:extLst>
          </p:cNvPr>
          <p:cNvSpPr/>
          <p:nvPr/>
        </p:nvSpPr>
        <p:spPr>
          <a:xfrm>
            <a:off x="-26127" y="0"/>
            <a:ext cx="12192000" cy="128016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2A0605-5B55-8AB2-2FA7-53075C927A82}"/>
              </a:ext>
            </a:extLst>
          </p:cNvPr>
          <p:cNvSpPr/>
          <p:nvPr/>
        </p:nvSpPr>
        <p:spPr>
          <a:xfrm>
            <a:off x="0" y="0"/>
            <a:ext cx="121920" cy="1280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958186-0922-4DF5-0290-51BDBCDFFDC8}"/>
              </a:ext>
            </a:extLst>
          </p:cNvPr>
          <p:cNvSpPr/>
          <p:nvPr/>
        </p:nvSpPr>
        <p:spPr>
          <a:xfrm>
            <a:off x="365760" y="182883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India is moving. Fast.</a:t>
            </a:r>
            <a:endParaRPr lang="en-US" sz="37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C34789-576B-87A8-F3D2-0C1CE081F87A}"/>
              </a:ext>
            </a:extLst>
          </p:cNvPr>
          <p:cNvSpPr/>
          <p:nvPr/>
        </p:nvSpPr>
        <p:spPr>
          <a:xfrm>
            <a:off x="365760" y="1001494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733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7B56357-C8B3-0F63-3601-AF78EDF48EB5}"/>
              </a:ext>
            </a:extLst>
          </p:cNvPr>
          <p:cNvSpPr/>
          <p:nvPr/>
        </p:nvSpPr>
        <p:spPr>
          <a:xfrm>
            <a:off x="3048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F1607D9-C3FC-CFB5-903B-AE7E68C5183E}"/>
              </a:ext>
            </a:extLst>
          </p:cNvPr>
          <p:cNvSpPr/>
          <p:nvPr/>
        </p:nvSpPr>
        <p:spPr>
          <a:xfrm>
            <a:off x="304800" y="1438656"/>
            <a:ext cx="85344" cy="4754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3C418B9-1187-3D75-2548-CEBC9524162E}"/>
              </a:ext>
            </a:extLst>
          </p:cNvPr>
          <p:cNvSpPr/>
          <p:nvPr/>
        </p:nvSpPr>
        <p:spPr>
          <a:xfrm>
            <a:off x="5486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 Gap</a:t>
            </a:r>
            <a:endParaRPr lang="en-US" sz="18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55EBB8-5598-0219-7F12-7C6204338622}"/>
              </a:ext>
            </a:extLst>
          </p:cNvPr>
          <p:cNvSpPr/>
          <p:nvPr/>
        </p:nvSpPr>
        <p:spPr>
          <a:xfrm>
            <a:off x="5486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99%</a:t>
            </a:r>
            <a:endParaRPr lang="en-US" sz="7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0177187-1B51-1BC1-FADA-6925ABF45BB1}"/>
              </a:ext>
            </a:extLst>
          </p:cNvPr>
          <p:cNvSpPr/>
          <p:nvPr/>
        </p:nvSpPr>
        <p:spPr>
          <a:xfrm>
            <a:off x="5399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AV training data is Western. A model trained on San Francisco cannot handle Saidapet — 40+ vehicle types, cattle, lane-less chaos.</a:t>
            </a:r>
            <a:endParaRPr lang="en-US" sz="1533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EA0AFA5-F12F-877D-836E-1508F7D7E984}"/>
              </a:ext>
            </a:extLst>
          </p:cNvPr>
          <p:cNvSpPr/>
          <p:nvPr/>
        </p:nvSpPr>
        <p:spPr>
          <a:xfrm>
            <a:off x="304800" y="6047232"/>
            <a:ext cx="3779520" cy="24384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D0DAD3-49AC-2EB7-EB1C-3A9FFD4B2473}"/>
              </a:ext>
            </a:extLst>
          </p:cNvPr>
          <p:cNvSpPr/>
          <p:nvPr/>
        </p:nvSpPr>
        <p:spPr>
          <a:xfrm>
            <a:off x="4267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Crunchbase 2025</a:t>
            </a:r>
            <a:endParaRPr lang="en-US" sz="1133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D8DC094-2F91-36B1-3C6D-90DF9A1E4011}"/>
              </a:ext>
            </a:extLst>
          </p:cNvPr>
          <p:cNvSpPr/>
          <p:nvPr/>
        </p:nvSpPr>
        <p:spPr>
          <a:xfrm>
            <a:off x="42672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F193722-A8B1-0254-5132-221A55E4C9DB}"/>
              </a:ext>
            </a:extLst>
          </p:cNvPr>
          <p:cNvSpPr/>
          <p:nvPr/>
        </p:nvSpPr>
        <p:spPr>
          <a:xfrm>
            <a:off x="4267200" y="1438656"/>
            <a:ext cx="85344" cy="47548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B1AAAE7-794F-F642-D68E-9C6521E65B79}"/>
              </a:ext>
            </a:extLst>
          </p:cNvPr>
          <p:cNvSpPr/>
          <p:nvPr/>
        </p:nvSpPr>
        <p:spPr>
          <a:xfrm>
            <a:off x="45110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Simulation Environments</a:t>
            </a:r>
            <a:endParaRPr lang="en-US" sz="1867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0FBBB4-E671-07CF-A790-5E35F128EE9B}"/>
              </a:ext>
            </a:extLst>
          </p:cNvPr>
          <p:cNvSpPr/>
          <p:nvPr/>
        </p:nvSpPr>
        <p:spPr>
          <a:xfrm>
            <a:off x="45110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Broken Roads, Potholes and …</a:t>
            </a:r>
            <a:endParaRPr lang="en-US" sz="3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D575C10-8B07-A8FA-6D73-E262B8F97072}"/>
              </a:ext>
            </a:extLst>
          </p:cNvPr>
          <p:cNvSpPr/>
          <p:nvPr/>
        </p:nvSpPr>
        <p:spPr>
          <a:xfrm>
            <a:off x="45023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Environments used by existing global organizations rely on structured roads and traffic </a:t>
            </a:r>
            <a:endParaRPr lang="en-US" sz="1533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9A38AFA-A8B6-A8CE-6838-9DD181E20CC0}"/>
              </a:ext>
            </a:extLst>
          </p:cNvPr>
          <p:cNvSpPr/>
          <p:nvPr/>
        </p:nvSpPr>
        <p:spPr>
          <a:xfrm>
            <a:off x="4267200" y="6047232"/>
            <a:ext cx="3779520" cy="2438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33FD4D0-809A-8B67-07D2-54A4366BE22F}"/>
              </a:ext>
            </a:extLst>
          </p:cNvPr>
          <p:cNvSpPr/>
          <p:nvPr/>
        </p:nvSpPr>
        <p:spPr>
          <a:xfrm>
            <a:off x="43891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MoRTHS Gazette Notification 2024</a:t>
            </a:r>
            <a:endParaRPr lang="en-US" sz="1133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E39DEC4-BECD-1547-82C1-ED77B607133A}"/>
              </a:ext>
            </a:extLst>
          </p:cNvPr>
          <p:cNvSpPr/>
          <p:nvPr/>
        </p:nvSpPr>
        <p:spPr>
          <a:xfrm>
            <a:off x="8229600" y="1438656"/>
            <a:ext cx="3779520" cy="4754880"/>
          </a:xfrm>
          <a:prstGeom prst="rect">
            <a:avLst/>
          </a:prstGeom>
          <a:solidFill>
            <a:srgbClr val="0D1829"/>
          </a:solidFill>
          <a:ln w="9525">
            <a:solidFill>
              <a:srgbClr val="1A2E4A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2433500-ABEE-B2C1-52F7-DDF139C20964}"/>
              </a:ext>
            </a:extLst>
          </p:cNvPr>
          <p:cNvSpPr/>
          <p:nvPr/>
        </p:nvSpPr>
        <p:spPr>
          <a:xfrm>
            <a:off x="8229600" y="1438656"/>
            <a:ext cx="85344" cy="4754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DFEE816-A2E3-A9B6-8E7C-97B42EBE4C6F}"/>
              </a:ext>
            </a:extLst>
          </p:cNvPr>
          <p:cNvSpPr/>
          <p:nvPr/>
        </p:nvSpPr>
        <p:spPr>
          <a:xfrm>
            <a:off x="8473440" y="160934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0F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 Gap</a:t>
            </a:r>
            <a:endParaRPr lang="en-US" sz="1867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0EF27C0-0CA8-0C5A-0C2B-B34EA888EC10}"/>
              </a:ext>
            </a:extLst>
          </p:cNvPr>
          <p:cNvSpPr/>
          <p:nvPr/>
        </p:nvSpPr>
        <p:spPr>
          <a:xfrm>
            <a:off x="8473440" y="2454077"/>
            <a:ext cx="341376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7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2ED6E4A-5A1D-FF83-70D7-8DA8EB818876}"/>
              </a:ext>
            </a:extLst>
          </p:cNvPr>
          <p:cNvSpPr/>
          <p:nvPr/>
        </p:nvSpPr>
        <p:spPr>
          <a:xfrm>
            <a:off x="8464731" y="3877056"/>
            <a:ext cx="33893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solidFill>
                  <a:srgbClr val="B8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3M+ Ola/Uber rides per day, the world's ideal robotaxi culture — and zero commercial autonomous vehicle deployments.</a:t>
            </a:r>
            <a:endParaRPr lang="en-US" sz="1533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65E5157-9F26-3F84-84B3-15020F0E2ED8}"/>
              </a:ext>
            </a:extLst>
          </p:cNvPr>
          <p:cNvSpPr/>
          <p:nvPr/>
        </p:nvSpPr>
        <p:spPr>
          <a:xfrm>
            <a:off x="8229600" y="6047232"/>
            <a:ext cx="3779520" cy="243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61E7C75-A237-D03F-CDBC-DDA3C4B8E633}"/>
              </a:ext>
            </a:extLst>
          </p:cNvPr>
          <p:cNvSpPr/>
          <p:nvPr/>
        </p:nvSpPr>
        <p:spPr>
          <a:xfrm>
            <a:off x="8351520" y="6096000"/>
            <a:ext cx="36576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Ola/Uber India ride data 2025</a:t>
            </a:r>
            <a:endParaRPr lang="en-US" sz="1133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E0C9730-6438-3809-D091-6E8582A38AD4}"/>
              </a:ext>
            </a:extLst>
          </p:cNvPr>
          <p:cNvSpPr/>
          <p:nvPr/>
        </p:nvSpPr>
        <p:spPr>
          <a:xfrm>
            <a:off x="0" y="6364224"/>
            <a:ext cx="12192000" cy="512064"/>
          </a:xfrm>
          <a:prstGeom prst="rect">
            <a:avLst/>
          </a:prstGeom>
          <a:solidFill>
            <a:srgbClr val="111F35"/>
          </a:solidFill>
          <a:ln w="12700">
            <a:solidFill>
              <a:srgbClr val="111F35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5F8C816-B579-1FE3-4F97-8DD2FD4616EF}"/>
              </a:ext>
            </a:extLst>
          </p:cNvPr>
          <p:cNvSpPr/>
          <p:nvPr/>
        </p:nvSpPr>
        <p:spPr>
          <a:xfrm>
            <a:off x="365760" y="6388608"/>
            <a:ext cx="114604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i="1" dirty="0">
                <a:solidFill>
                  <a:srgbClr val="6B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“Waymo has spent $3.5B (Alphabet 10-K, FY2024) and has no India operations. Mobileye and Baidu have global reach — but neither has India-native training data, local regulatory access, or a deployment roadmap for unstructured Indian traffic.”</a:t>
            </a:r>
            <a:endParaRPr lang="en-US" sz="1267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D1D4D9-16DD-FA92-267A-AC5E5D58D0FF}"/>
              </a:ext>
            </a:extLst>
          </p:cNvPr>
          <p:cNvSpPr/>
          <p:nvPr/>
        </p:nvSpPr>
        <p:spPr>
          <a:xfrm>
            <a:off x="4145280" y="1274064"/>
            <a:ext cx="4023360" cy="5084064"/>
          </a:xfrm>
          <a:prstGeom prst="rect">
            <a:avLst/>
          </a:prstGeom>
          <a:solidFill>
            <a:srgbClr val="101F34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C73675-E929-FDC5-36B1-709EEC8B7638}"/>
              </a:ext>
            </a:extLst>
          </p:cNvPr>
          <p:cNvSpPr/>
          <p:nvPr/>
        </p:nvSpPr>
        <p:spPr>
          <a:xfrm>
            <a:off x="105374" y="1370735"/>
            <a:ext cx="4003330" cy="5084064"/>
          </a:xfrm>
          <a:prstGeom prst="rect">
            <a:avLst/>
          </a:prstGeom>
          <a:solidFill>
            <a:srgbClr val="101F34">
              <a:alpha val="8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1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51EB7-3498-01E1-F0A8-4126E070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2AF4B9-FDB5-E512-FADE-A17FE6EAFF7C}"/>
              </a:ext>
            </a:extLst>
          </p:cNvPr>
          <p:cNvSpPr/>
          <p:nvPr/>
        </p:nvSpPr>
        <p:spPr>
          <a:xfrm>
            <a:off x="-26127" y="0"/>
            <a:ext cx="12192000" cy="128016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35E4EC8-B3D2-63AB-06DC-15E8408697DD}"/>
              </a:ext>
            </a:extLst>
          </p:cNvPr>
          <p:cNvSpPr/>
          <p:nvPr/>
        </p:nvSpPr>
        <p:spPr>
          <a:xfrm>
            <a:off x="0" y="0"/>
            <a:ext cx="121920" cy="1280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5A87A6-F222-4882-0816-FE17702B5D00}"/>
              </a:ext>
            </a:extLst>
          </p:cNvPr>
          <p:cNvSpPr/>
          <p:nvPr/>
        </p:nvSpPr>
        <p:spPr>
          <a:xfrm>
            <a:off x="365760" y="200301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0F6FF"/>
                </a:solidFill>
                <a:latin typeface="Arial Black" pitchFamily="34" charset="0"/>
                <a:cs typeface="Arial Black" pitchFamily="34" charset="-120"/>
              </a:rPr>
              <a:t>In a country where Chaos is structural, Robotaxis will prove there’s order in Chaos </a:t>
            </a:r>
            <a:endParaRPr lang="en-US" sz="37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CA7AD1-9111-81A2-37AD-1D9816AEF8A6}"/>
              </a:ext>
            </a:extLst>
          </p:cNvPr>
          <p:cNvSpPr/>
          <p:nvPr/>
        </p:nvSpPr>
        <p:spPr>
          <a:xfrm>
            <a:off x="365760" y="1036330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Robotaxis open multiple revenue streams, Partnerships, can be marketed as safe, act as “the protectors with eyes always open”, a symbol of engineering excellence developed in India, for India, by India </a:t>
            </a:r>
            <a:r>
              <a:rPr lang="en-US" sz="1733" i="1" dirty="0" err="1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ect</a:t>
            </a:r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 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2386608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6A721-09AE-9A2F-04F0-07C744423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C1AAA3-5055-794C-AA79-AA7F45F6B4EC}"/>
              </a:ext>
            </a:extLst>
          </p:cNvPr>
          <p:cNvSpPr/>
          <p:nvPr/>
        </p:nvSpPr>
        <p:spPr>
          <a:xfrm>
            <a:off x="-26127" y="0"/>
            <a:ext cx="12192000" cy="1280160"/>
          </a:xfrm>
          <a:prstGeom prst="rect">
            <a:avLst/>
          </a:prstGeom>
          <a:solidFill>
            <a:srgbClr val="0D1829"/>
          </a:solidFill>
          <a:ln w="12700">
            <a:solidFill>
              <a:srgbClr val="0D182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D9CB417-1947-C267-522F-D6D25AB5B79D}"/>
              </a:ext>
            </a:extLst>
          </p:cNvPr>
          <p:cNvSpPr/>
          <p:nvPr/>
        </p:nvSpPr>
        <p:spPr>
          <a:xfrm>
            <a:off x="0" y="0"/>
            <a:ext cx="121920" cy="12801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E44660-0A16-4060-27B2-659B89E8E2D4}"/>
              </a:ext>
            </a:extLst>
          </p:cNvPr>
          <p:cNvSpPr/>
          <p:nvPr/>
        </p:nvSpPr>
        <p:spPr>
          <a:xfrm>
            <a:off x="365760" y="200301"/>
            <a:ext cx="11460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0F6FF"/>
                </a:solidFill>
                <a:latin typeface="Arial Black" pitchFamily="34" charset="0"/>
                <a:cs typeface="Arial Black" pitchFamily="34" charset="-120"/>
              </a:rPr>
              <a:t>Here’s what else that’s going for us</a:t>
            </a:r>
            <a:endParaRPr lang="en-US" sz="3733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F11552-BF30-5D68-BD14-D39EF7C5BB42}"/>
              </a:ext>
            </a:extLst>
          </p:cNvPr>
          <p:cNvSpPr/>
          <p:nvPr/>
        </p:nvSpPr>
        <p:spPr>
          <a:xfrm>
            <a:off x="365760" y="1036330"/>
            <a:ext cx="11460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ADAS ecosystem that’s underserved without enough OEMs, Engineers graduating without enough opportunities , access to talent , Existing EV ecosystem and enough investments in the EV supply chain.  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4042102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11165</TotalTime>
  <Words>1024</Words>
  <Application>Microsoft Macintosh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Munish Raj</dc:creator>
  <cp:lastModifiedBy>Munish Raj</cp:lastModifiedBy>
  <cp:revision>4</cp:revision>
  <dcterms:created xsi:type="dcterms:W3CDTF">2026-05-22T13:47:41Z</dcterms:created>
  <dcterms:modified xsi:type="dcterms:W3CDTF">2026-06-20T07:41:55Z</dcterms:modified>
</cp:coreProperties>
</file>